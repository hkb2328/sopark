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3" r:id="rId4"/>
    <p:sldId id="264" r:id="rId5"/>
    <p:sldId id="265" r:id="rId6"/>
    <p:sldId id="266" r:id="rId7"/>
    <p:sldId id="286" r:id="rId8"/>
    <p:sldId id="270" r:id="rId9"/>
    <p:sldId id="271" r:id="rId10"/>
    <p:sldId id="272" r:id="rId11"/>
    <p:sldId id="282" r:id="rId12"/>
    <p:sldId id="274" r:id="rId13"/>
    <p:sldId id="276" r:id="rId14"/>
    <p:sldId id="27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844" autoAdjust="0"/>
    <p:restoredTop sz="94660"/>
  </p:normalViewPr>
  <p:slideViewPr>
    <p:cSldViewPr snapToGrid="0">
      <p:cViewPr varScale="1">
        <p:scale>
          <a:sx n="82" d="100"/>
          <a:sy n="82" d="100"/>
        </p:scale>
        <p:origin x="109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94F3B-112F-4341-B3BD-7F288A2719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B99F8E-2E5D-48F8-B20C-36575B20F1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79A760-2538-48D3-8EDC-9C43445BD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8B2C3-2EDF-410D-BC45-5877D139C321}" type="datetimeFigureOut">
              <a:rPr lang="en-IN" smtClean="0"/>
              <a:t>08-09-2024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E1946F-49A0-48E0-9C4C-DF43F5D3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6B8ED1-6200-4570-8424-5517A0284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4B7D0-7D93-4A31-ABED-CDC324894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6560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1A3EE-5398-41B7-89FF-18D0E6BDF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8ED52-AF1A-4206-83FC-B24FBD9504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50C1CA-389A-4527-9455-973CFE6D8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8B2C3-2EDF-410D-BC45-5877D139C321}" type="datetimeFigureOut">
              <a:rPr lang="en-IN" smtClean="0"/>
              <a:t>08-09-2024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39B898-043A-4049-BFB8-30959CD01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710190-7063-43E2-ACDF-EB7644E98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4B7D0-7D93-4A31-ABED-CDC324894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0323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7DD7E-DA25-4C97-9E9D-368688DD2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D64A3F-E554-4E76-821E-CB6D9DA707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7DD2C-5E7A-478E-BC76-6248359A8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8B2C3-2EDF-410D-BC45-5877D139C321}" type="datetimeFigureOut">
              <a:rPr lang="en-IN" smtClean="0"/>
              <a:t>08-09-2024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027391-47FE-42D0-8FF2-F58B30C12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19E715-BA37-437A-A5D7-6426BB589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4B7D0-7D93-4A31-ABED-CDC324894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8089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2C3CC-213F-4630-B6A4-3228A9FB2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51BF0-E8B5-45C0-A79C-5E49D787AD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2403FE-4575-4E71-A7C7-E7C0615EA8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C68A27-A03D-476F-9877-D1EA6F5BD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8B2C3-2EDF-410D-BC45-5877D139C321}" type="datetimeFigureOut">
              <a:rPr lang="en-IN" smtClean="0"/>
              <a:t>08-09-2024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584D60-5A0D-4109-91F8-A27967773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D0F5C2-1B86-4C4C-A87C-4D892D1F8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4B7D0-7D93-4A31-ABED-CDC324894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6006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D9A4D-E47F-4E85-9C25-9B249F9E7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3FDE33-7C89-4F40-8804-675D16B359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27DC66-A479-45A9-9D10-D4BF2A02DA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242E49-40BC-4456-B3F9-45B6125BF9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E7847D-D196-43E6-8510-6E165DF69D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EF9467-4EC1-4560-84FB-074BB8103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8B2C3-2EDF-410D-BC45-5877D139C321}" type="datetimeFigureOut">
              <a:rPr lang="en-IN" smtClean="0"/>
              <a:t>08-09-2024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94D728-9CFA-44A3-8EC5-AA71D823B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A9E49A-EBA7-41A2-B8BD-B8085D402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4B7D0-7D93-4A31-ABED-CDC324894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9754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C5F48-B649-46B7-BC2E-99270B773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2AC533-400F-4A10-AC01-5D8E11508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8B2C3-2EDF-410D-BC45-5877D139C321}" type="datetimeFigureOut">
              <a:rPr lang="en-IN" smtClean="0"/>
              <a:t>08-09-2024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05E8F8-AE48-4E53-B600-4509E116C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E90FD6-78B8-4005-B3D5-54AE903FD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4B7D0-7D93-4A31-ABED-CDC324894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8239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1908AA-ACA5-4E8B-B1DD-8E4BADF92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8B2C3-2EDF-410D-BC45-5877D139C321}" type="datetimeFigureOut">
              <a:rPr lang="en-IN" smtClean="0"/>
              <a:t>08-09-2024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62D7A8-1507-44EA-A803-0E9842DD8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4EA4DB-C93F-4A11-9489-4A40CC2A4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4B7D0-7D93-4A31-ABED-CDC324894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573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9E2F9-1F9A-4779-8A16-8FD512269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BC33D-3BB3-483F-BA3D-DB139B0559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00843D-3C65-498A-9B7A-F31184DF6D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A18B30-9026-4D18-83EE-3B0CCEE06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8B2C3-2EDF-410D-BC45-5877D139C321}" type="datetimeFigureOut">
              <a:rPr lang="en-IN" smtClean="0"/>
              <a:t>08-09-2024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9607E9-D181-466D-8673-78D492F17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7BC51A-5E44-4CE9-8B8E-9EF6CCF1B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4B7D0-7D93-4A31-ABED-CDC324894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593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DF1C8-784A-4824-9F1C-589A76866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561909-9F99-4016-AC32-FB553687BB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975323-BBA4-4848-BAC6-1C7C0551BE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20FF40-9AEF-4F63-BA44-67943C4FD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8B2C3-2EDF-410D-BC45-5877D139C321}" type="datetimeFigureOut">
              <a:rPr lang="en-IN" smtClean="0"/>
              <a:t>08-09-2024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5239F7-589D-4D20-86D4-C4E61B6C4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5B8AC5-945C-4DAC-B492-407CFB4DA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4B7D0-7D93-4A31-ABED-CDC324894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0863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DA267-063A-446B-B19D-7F1F76F47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F98D61-80D9-4D06-A95D-D7954842C1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A3D248-F250-42FE-AE3F-1BD6E1B61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8B2C3-2EDF-410D-BC45-5877D139C321}" type="datetimeFigureOut">
              <a:rPr lang="en-IN" smtClean="0"/>
              <a:t>08-09-2024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A1E1D-1292-4B3A-980B-79D5F74D3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F5D6C1-7314-47DC-A252-6D130171D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4B7D0-7D93-4A31-ABED-CDC324894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4347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57BF4E-9413-482A-A369-3357CF877E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DB1FDD-8039-4A3B-AE23-FA8CCDBA21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08F6DE-2E20-46C7-9E73-EEE97A4F8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8B2C3-2EDF-410D-BC45-5877D139C321}" type="datetimeFigureOut">
              <a:rPr lang="en-IN" smtClean="0"/>
              <a:t>08-09-2024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2B845D-5530-45B9-AAB6-265DAA31E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57F2F5-25FB-42D8-86A7-1A82C14F0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4B7D0-7D93-4A31-ABED-CDC324894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0588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9AD193-D4C2-4CDD-AA69-5D48B7804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42CB6D-29E5-4274-A39C-749863EA1E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1EF24-E3F8-4BA9-8259-4F18AAA022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C8B2C3-2EDF-410D-BC45-5877D139C321}" type="datetimeFigureOut">
              <a:rPr lang="en-IN" smtClean="0"/>
              <a:t>08-09-2024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1A613B-E76E-410F-A6C2-0C0713F187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81833A-6B60-4288-9105-FB091AD9D3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04B7D0-7D93-4A31-ABED-CDC324894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9956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About us - zeyobron">
            <a:extLst>
              <a:ext uri="{FF2B5EF4-FFF2-40B4-BE49-F238E27FC236}">
                <a16:creationId xmlns:a16="http://schemas.microsoft.com/office/drawing/2014/main" id="{2696F74E-3C58-4749-B005-5C4C4AAB24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3149" y="771525"/>
            <a:ext cx="6543903" cy="2071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BF28DAA-1C12-4617-8FA6-62576A363FAF}"/>
              </a:ext>
            </a:extLst>
          </p:cNvPr>
          <p:cNvSpPr/>
          <p:nvPr/>
        </p:nvSpPr>
        <p:spPr>
          <a:xfrm>
            <a:off x="3234481" y="3429000"/>
            <a:ext cx="5723041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8800" b="1" dirty="0">
                <a:ln w="0"/>
                <a:solidFill>
                  <a:srgbClr val="002060"/>
                </a:solidFill>
                <a:effectLst>
                  <a:reflection blurRad="6350" stA="53000" endA="300" endPos="35500" dir="5400000" sy="-90000" algn="bl" rotWithShape="0"/>
                </a:effectLst>
                <a:latin typeface="Bahnschrift Light Condensed" panose="020B0502040204020203" pitchFamily="34" charset="0"/>
              </a:rPr>
              <a:t>Spark Revision</a:t>
            </a:r>
          </a:p>
        </p:txBody>
      </p:sp>
    </p:spTree>
    <p:extLst>
      <p:ext uri="{BB962C8B-B14F-4D97-AF65-F5344CB8AC3E}">
        <p14:creationId xmlns:p14="http://schemas.microsoft.com/office/powerpoint/2010/main" val="3303842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3A7BAE-700B-4129-BDCC-9839276D0BAE}"/>
              </a:ext>
            </a:extLst>
          </p:cNvPr>
          <p:cNvSpPr txBox="1"/>
          <p:nvPr/>
        </p:nvSpPr>
        <p:spPr>
          <a:xfrm>
            <a:off x="128071" y="185738"/>
            <a:ext cx="13188585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rgbClr val="C00000"/>
                </a:solidFill>
                <a:latin typeface="Bahnschrift SemiLight Condensed" panose="020B0502040204020203" pitchFamily="34" charset="0"/>
              </a:rPr>
              <a:t>Why Spark is faster  ? </a:t>
            </a:r>
            <a:r>
              <a:rPr lang="en-IN" sz="3200" dirty="0" err="1">
                <a:solidFill>
                  <a:srgbClr val="C00000"/>
                </a:solidFill>
                <a:latin typeface="Bahnschrift SemiLight Condensed" panose="020B0502040204020203" pitchFamily="34" charset="0"/>
              </a:rPr>
              <a:t>Inmemory</a:t>
            </a:r>
            <a:r>
              <a:rPr lang="en-IN" sz="3200" dirty="0">
                <a:solidFill>
                  <a:srgbClr val="C00000"/>
                </a:solidFill>
                <a:latin typeface="Bahnschrift SemiLight Condensed" panose="020B0502040204020203" pitchFamily="34" charset="0"/>
              </a:rPr>
              <a:t> computation </a:t>
            </a:r>
          </a:p>
          <a:p>
            <a:r>
              <a:rPr lang="en-IN" sz="3200" dirty="0">
                <a:solidFill>
                  <a:srgbClr val="C00000"/>
                </a:solidFill>
                <a:latin typeface="Bahnschrift SemiLight Condensed" panose="020B0502040204020203" pitchFamily="34" charset="0"/>
              </a:rPr>
              <a:t>What is lazy evolution ? Bottom to Top approach , Till the </a:t>
            </a:r>
            <a:r>
              <a:rPr lang="en-IN" sz="3200" dirty="0" err="1">
                <a:solidFill>
                  <a:srgbClr val="C00000"/>
                </a:solidFill>
                <a:latin typeface="Bahnschrift SemiLight Condensed" panose="020B0502040204020203" pitchFamily="34" charset="0"/>
              </a:rPr>
              <a:t>action,Non</a:t>
            </a:r>
            <a:r>
              <a:rPr lang="en-IN" sz="3200" dirty="0">
                <a:solidFill>
                  <a:srgbClr val="C00000"/>
                </a:solidFill>
                <a:latin typeface="Bahnschrift SemiLight Condensed" panose="020B0502040204020203" pitchFamily="34" charset="0"/>
              </a:rPr>
              <a:t> Trans</a:t>
            </a:r>
            <a:br>
              <a:rPr lang="en-IN" sz="3200" dirty="0">
                <a:solidFill>
                  <a:srgbClr val="C00000"/>
                </a:solidFill>
                <a:latin typeface="Bahnschrift SemiLight Condensed" panose="020B0502040204020203" pitchFamily="34" charset="0"/>
              </a:rPr>
            </a:br>
            <a:r>
              <a:rPr lang="en-IN" sz="3200" dirty="0">
                <a:solidFill>
                  <a:srgbClr val="C00000"/>
                </a:solidFill>
                <a:latin typeface="Bahnschrift SemiLight Condensed" panose="020B0502040204020203" pitchFamily="34" charset="0"/>
              </a:rPr>
              <a:t>What is eliminated in Spark?  --- I/0 reads  writes</a:t>
            </a:r>
          </a:p>
          <a:p>
            <a:r>
              <a:rPr lang="en-IN" sz="3200" dirty="0">
                <a:solidFill>
                  <a:srgbClr val="C00000"/>
                </a:solidFill>
                <a:latin typeface="Bahnschrift SemiLight Condensed" panose="020B0502040204020203" pitchFamily="34" charset="0"/>
              </a:rPr>
              <a:t>In how many was we can process data in spark --- RDD and </a:t>
            </a:r>
            <a:r>
              <a:rPr lang="en-IN" sz="3200" dirty="0" err="1">
                <a:solidFill>
                  <a:srgbClr val="C00000"/>
                </a:solidFill>
                <a:latin typeface="Bahnschrift SemiLight Condensed" panose="020B0502040204020203" pitchFamily="34" charset="0"/>
              </a:rPr>
              <a:t>Dataframe</a:t>
            </a:r>
            <a:endParaRPr lang="en-IN" sz="3200" dirty="0">
              <a:solidFill>
                <a:srgbClr val="C00000"/>
              </a:solidFill>
              <a:latin typeface="Bahnschrift SemiLight Condensed" panose="020B0502040204020203" pitchFamily="34" charset="0"/>
            </a:endParaRPr>
          </a:p>
          <a:p>
            <a:r>
              <a:rPr lang="en-IN" sz="3200" dirty="0">
                <a:solidFill>
                  <a:srgbClr val="C00000"/>
                </a:solidFill>
                <a:latin typeface="Bahnschrift SemiLight Condensed" panose="020B0502040204020203" pitchFamily="34" charset="0"/>
              </a:rPr>
              <a:t>What is an </a:t>
            </a:r>
            <a:r>
              <a:rPr lang="en-IN" sz="3200" dirty="0" err="1">
                <a:solidFill>
                  <a:srgbClr val="C00000"/>
                </a:solidFill>
                <a:latin typeface="Bahnschrift SemiLight Condensed" panose="020B0502040204020203" pitchFamily="34" charset="0"/>
              </a:rPr>
              <a:t>Rdd</a:t>
            </a:r>
            <a:r>
              <a:rPr lang="en-IN" sz="3200" dirty="0">
                <a:solidFill>
                  <a:srgbClr val="C00000"/>
                </a:solidFill>
                <a:latin typeface="Bahnschrift SemiLight Condensed" panose="020B0502040204020203" pitchFamily="34" charset="0"/>
              </a:rPr>
              <a:t> ?  --- Resilient distributed dataset – Programmatical data processing</a:t>
            </a:r>
          </a:p>
          <a:p>
            <a:r>
              <a:rPr lang="en-IN" sz="3200" dirty="0">
                <a:solidFill>
                  <a:srgbClr val="C00000"/>
                </a:solidFill>
                <a:latin typeface="Bahnschrift SemiLight Condensed" panose="020B0502040204020203" pitchFamily="34" charset="0"/>
              </a:rPr>
              <a:t>Which is used to Iterate Spark </a:t>
            </a:r>
            <a:r>
              <a:rPr lang="en-IN" sz="3200" dirty="0" err="1">
                <a:solidFill>
                  <a:srgbClr val="C00000"/>
                </a:solidFill>
                <a:latin typeface="Bahnschrift SemiLight Condensed" panose="020B0502040204020203" pitchFamily="34" charset="0"/>
              </a:rPr>
              <a:t>rdd</a:t>
            </a:r>
            <a:r>
              <a:rPr lang="en-IN" sz="3200" dirty="0">
                <a:solidFill>
                  <a:srgbClr val="C00000"/>
                </a:solidFill>
                <a:latin typeface="Bahnschrift SemiLight Condensed" panose="020B0502040204020203" pitchFamily="34" charset="0"/>
              </a:rPr>
              <a:t> --- Lambda</a:t>
            </a:r>
          </a:p>
          <a:p>
            <a:r>
              <a:rPr lang="en-IN" sz="3200" dirty="0">
                <a:solidFill>
                  <a:srgbClr val="C00000"/>
                </a:solidFill>
                <a:latin typeface="Bahnschrift SemiLight Condensed" panose="020B0502040204020203" pitchFamily="34" charset="0"/>
              </a:rPr>
              <a:t>Which Class  used to have </a:t>
            </a:r>
            <a:r>
              <a:rPr lang="en-IN" sz="3200" dirty="0" err="1">
                <a:solidFill>
                  <a:srgbClr val="C00000"/>
                </a:solidFill>
                <a:latin typeface="Bahnschrift SemiLight Condensed" panose="020B0502040204020203" pitchFamily="34" charset="0"/>
              </a:rPr>
              <a:t>rdd</a:t>
            </a:r>
            <a:r>
              <a:rPr lang="en-IN" sz="3200" dirty="0">
                <a:solidFill>
                  <a:srgbClr val="C00000"/>
                </a:solidFill>
                <a:latin typeface="Bahnschrift SemiLight Condensed" panose="020B0502040204020203" pitchFamily="34" charset="0"/>
              </a:rPr>
              <a:t> operations   ---  context.py</a:t>
            </a:r>
          </a:p>
          <a:p>
            <a:r>
              <a:rPr lang="en-IN" sz="3200" dirty="0">
                <a:solidFill>
                  <a:srgbClr val="C00000"/>
                </a:solidFill>
                <a:latin typeface="Bahnschrift SemiLight Condensed" panose="020B0502040204020203" pitchFamily="34" charset="0"/>
              </a:rPr>
              <a:t>What Class  is used to have </a:t>
            </a:r>
            <a:r>
              <a:rPr lang="en-IN" sz="3200" dirty="0" err="1">
                <a:solidFill>
                  <a:srgbClr val="C00000"/>
                </a:solidFill>
                <a:latin typeface="Bahnschrift SemiLight Condensed" panose="020B0502040204020203" pitchFamily="34" charset="0"/>
              </a:rPr>
              <a:t>dataframe</a:t>
            </a:r>
            <a:r>
              <a:rPr lang="en-IN" sz="3200" dirty="0">
                <a:solidFill>
                  <a:srgbClr val="C00000"/>
                </a:solidFill>
                <a:latin typeface="Bahnschrift SemiLight Condensed" panose="020B0502040204020203" pitchFamily="34" charset="0"/>
              </a:rPr>
              <a:t> operation?  Session.py</a:t>
            </a:r>
          </a:p>
          <a:p>
            <a:r>
              <a:rPr lang="en-IN" sz="3200" dirty="0">
                <a:solidFill>
                  <a:srgbClr val="C00000"/>
                </a:solidFill>
                <a:latin typeface="Bahnschrift SemiLight Condensed" panose="020B0502040204020203" pitchFamily="34" charset="0"/>
              </a:rPr>
              <a:t>Starting point for </a:t>
            </a:r>
            <a:r>
              <a:rPr lang="en-IN" sz="3200" dirty="0" err="1">
                <a:solidFill>
                  <a:srgbClr val="C00000"/>
                </a:solidFill>
                <a:latin typeface="Bahnschrift SemiLight Condensed" panose="020B0502040204020203" pitchFamily="34" charset="0"/>
              </a:rPr>
              <a:t>rdd</a:t>
            </a:r>
            <a:r>
              <a:rPr lang="en-IN" sz="3200" dirty="0">
                <a:solidFill>
                  <a:srgbClr val="C00000"/>
                </a:solidFill>
                <a:latin typeface="Bahnschrift SemiLight Condensed" panose="020B0502040204020203" pitchFamily="34" charset="0"/>
              </a:rPr>
              <a:t> and </a:t>
            </a:r>
            <a:r>
              <a:rPr lang="en-IN" sz="3200" dirty="0" err="1">
                <a:solidFill>
                  <a:srgbClr val="C00000"/>
                </a:solidFill>
                <a:latin typeface="Bahnschrift SemiLight Condensed" panose="020B0502040204020203" pitchFamily="34" charset="0"/>
              </a:rPr>
              <a:t>dataframe</a:t>
            </a:r>
            <a:r>
              <a:rPr lang="en-IN" sz="3200" dirty="0">
                <a:solidFill>
                  <a:srgbClr val="C00000"/>
                </a:solidFill>
                <a:latin typeface="Bahnschrift SemiLight Condensed" panose="020B0502040204020203" pitchFamily="34" charset="0"/>
              </a:rPr>
              <a:t> .? </a:t>
            </a:r>
            <a:r>
              <a:rPr lang="en-IN" sz="3200" dirty="0" err="1">
                <a:solidFill>
                  <a:srgbClr val="C00000"/>
                </a:solidFill>
                <a:latin typeface="Bahnschrift SemiLight Condensed" panose="020B0502040204020203" pitchFamily="34" charset="0"/>
              </a:rPr>
              <a:t>SparkContext</a:t>
            </a:r>
            <a:r>
              <a:rPr lang="en-IN" sz="3200" dirty="0">
                <a:solidFill>
                  <a:srgbClr val="C00000"/>
                </a:solidFill>
                <a:latin typeface="Bahnschrift SemiLight Condensed" panose="020B0502040204020203" pitchFamily="34" charset="0"/>
              </a:rPr>
              <a:t> and </a:t>
            </a:r>
            <a:r>
              <a:rPr lang="en-IN" sz="3200" dirty="0" err="1">
                <a:solidFill>
                  <a:srgbClr val="C00000"/>
                </a:solidFill>
                <a:latin typeface="Bahnschrift SemiLight Condensed" panose="020B0502040204020203" pitchFamily="34" charset="0"/>
              </a:rPr>
              <a:t>SparkSession</a:t>
            </a:r>
            <a:endParaRPr lang="en-IN" sz="3200" dirty="0">
              <a:solidFill>
                <a:srgbClr val="C00000"/>
              </a:solidFill>
              <a:latin typeface="Bahnschrift SemiLight Condensed" panose="020B0502040204020203" pitchFamily="34" charset="0"/>
            </a:endParaRPr>
          </a:p>
          <a:p>
            <a:r>
              <a:rPr lang="en-IN" sz="3200" dirty="0">
                <a:solidFill>
                  <a:srgbClr val="C00000"/>
                </a:solidFill>
                <a:latin typeface="Bahnschrift SemiLight Condensed" panose="020B0502040204020203" pitchFamily="34" charset="0"/>
              </a:rPr>
              <a:t>Default format of Spark </a:t>
            </a:r>
            <a:r>
              <a:rPr lang="en-IN" sz="3200" dirty="0" err="1">
                <a:solidFill>
                  <a:srgbClr val="C00000"/>
                </a:solidFill>
                <a:latin typeface="Bahnschrift SemiLight Condensed" panose="020B0502040204020203" pitchFamily="34" charset="0"/>
              </a:rPr>
              <a:t>dataframe</a:t>
            </a:r>
            <a:r>
              <a:rPr lang="en-IN" sz="3200" dirty="0">
                <a:solidFill>
                  <a:srgbClr val="C00000"/>
                </a:solidFill>
                <a:latin typeface="Bahnschrift SemiLight Condensed" panose="020B0502040204020203" pitchFamily="34" charset="0"/>
              </a:rPr>
              <a:t> ---  parquet</a:t>
            </a:r>
            <a:endParaRPr lang="en-IN" sz="3200" dirty="0">
              <a:solidFill>
                <a:srgbClr val="002060"/>
              </a:solidFill>
              <a:latin typeface="Bahnschrift SemiLight Condensed" panose="020B0502040204020203" pitchFamily="34" charset="0"/>
            </a:endParaRPr>
          </a:p>
          <a:p>
            <a:r>
              <a:rPr lang="en-IN" sz="3200" dirty="0">
                <a:solidFill>
                  <a:srgbClr val="C00000"/>
                </a:solidFill>
                <a:latin typeface="Bahnschrift SemiLight Condensed" panose="020B0502040204020203" pitchFamily="34" charset="0"/>
              </a:rPr>
              <a:t>File format supported as a part of Spark --- </a:t>
            </a:r>
            <a:r>
              <a:rPr lang="en-IN" sz="3200" dirty="0" err="1">
                <a:solidFill>
                  <a:srgbClr val="C00000"/>
                </a:solidFill>
                <a:latin typeface="Bahnschrift SemiLight Condensed" panose="020B0502040204020203" pitchFamily="34" charset="0"/>
              </a:rPr>
              <a:t>csv,json,orc,parquet</a:t>
            </a:r>
            <a:endParaRPr lang="en-IN" sz="3200" dirty="0">
              <a:solidFill>
                <a:srgbClr val="C00000"/>
              </a:solidFill>
              <a:latin typeface="Bahnschrift SemiLight Condensed" panose="020B0502040204020203" pitchFamily="34" charset="0"/>
            </a:endParaRPr>
          </a:p>
          <a:p>
            <a:r>
              <a:rPr lang="en-IN" sz="3200" dirty="0">
                <a:solidFill>
                  <a:srgbClr val="C00000"/>
                </a:solidFill>
                <a:latin typeface="Bahnschrift SemiLight Condensed" panose="020B0502040204020203" pitchFamily="34" charset="0"/>
              </a:rPr>
              <a:t>Seamless </a:t>
            </a:r>
            <a:r>
              <a:rPr lang="en-IN" sz="3200" dirty="0" err="1">
                <a:solidFill>
                  <a:srgbClr val="C00000"/>
                </a:solidFill>
                <a:latin typeface="Bahnschrift SemiLight Condensed" panose="020B0502040204020203" pitchFamily="34" charset="0"/>
              </a:rPr>
              <a:t>Dataframe</a:t>
            </a:r>
            <a:r>
              <a:rPr lang="en-IN" sz="3200" dirty="0">
                <a:solidFill>
                  <a:srgbClr val="C00000"/>
                </a:solidFill>
                <a:latin typeface="Bahnschrift SemiLight Condensed" panose="020B0502040204020203" pitchFamily="34" charset="0"/>
              </a:rPr>
              <a:t> Read formulae?   -- spark read format options load</a:t>
            </a:r>
          </a:p>
          <a:p>
            <a:r>
              <a:rPr lang="en-IN" sz="3200" dirty="0">
                <a:solidFill>
                  <a:srgbClr val="C00000"/>
                </a:solidFill>
                <a:latin typeface="Bahnschrift SemiLight Condensed" panose="020B0502040204020203" pitchFamily="34" charset="0"/>
              </a:rPr>
              <a:t>Seamless </a:t>
            </a:r>
            <a:r>
              <a:rPr lang="en-IN" sz="3200" dirty="0" err="1">
                <a:solidFill>
                  <a:srgbClr val="C00000"/>
                </a:solidFill>
                <a:latin typeface="Bahnschrift SemiLight Condensed" panose="020B0502040204020203" pitchFamily="34" charset="0"/>
              </a:rPr>
              <a:t>Dataframe</a:t>
            </a:r>
            <a:r>
              <a:rPr lang="en-IN" sz="3200" dirty="0">
                <a:solidFill>
                  <a:srgbClr val="C00000"/>
                </a:solidFill>
                <a:latin typeface="Bahnschrift SemiLight Condensed" panose="020B0502040204020203" pitchFamily="34" charset="0"/>
              </a:rPr>
              <a:t> write formulae ?  -- </a:t>
            </a:r>
            <a:r>
              <a:rPr lang="en-IN" sz="3200" dirty="0" err="1">
                <a:solidFill>
                  <a:srgbClr val="C00000"/>
                </a:solidFill>
                <a:latin typeface="Bahnschrift SemiLight Condensed" panose="020B0502040204020203" pitchFamily="34" charset="0"/>
              </a:rPr>
              <a:t>df</a:t>
            </a:r>
            <a:r>
              <a:rPr lang="en-IN" sz="3200" dirty="0">
                <a:solidFill>
                  <a:srgbClr val="C00000"/>
                </a:solidFill>
                <a:latin typeface="Bahnschrift SemiLight Condensed" panose="020B0502040204020203" pitchFamily="34" charset="0"/>
              </a:rPr>
              <a:t> write format options mode save</a:t>
            </a:r>
          </a:p>
          <a:p>
            <a:endParaRPr lang="en-IN" sz="3200" dirty="0">
              <a:solidFill>
                <a:srgbClr val="C00000"/>
              </a:solidFill>
              <a:latin typeface="Bahnschrift Semi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4514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3A7BAE-700B-4129-BDCC-9839276D0BAE}"/>
              </a:ext>
            </a:extLst>
          </p:cNvPr>
          <p:cNvSpPr txBox="1"/>
          <p:nvPr/>
        </p:nvSpPr>
        <p:spPr>
          <a:xfrm>
            <a:off x="1185604" y="905757"/>
            <a:ext cx="982079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8000" dirty="0">
                <a:solidFill>
                  <a:srgbClr val="C00000"/>
                </a:solidFill>
                <a:latin typeface="Bahnschrift SemiLight Condensed" panose="020B0502040204020203" pitchFamily="34" charset="0"/>
              </a:rPr>
              <a:t>Create a Python  List with 1,4,6,7 and Do an iteration and add 2 to it--- DONE</a:t>
            </a:r>
          </a:p>
        </p:txBody>
      </p:sp>
    </p:spTree>
    <p:extLst>
      <p:ext uri="{BB962C8B-B14F-4D97-AF65-F5344CB8AC3E}">
        <p14:creationId xmlns:p14="http://schemas.microsoft.com/office/powerpoint/2010/main" val="2846182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370E8A-5908-48D4-8570-943044DC112B}"/>
              </a:ext>
            </a:extLst>
          </p:cNvPr>
          <p:cNvSpPr txBox="1"/>
          <p:nvPr/>
        </p:nvSpPr>
        <p:spPr>
          <a:xfrm>
            <a:off x="1185604" y="163513"/>
            <a:ext cx="982079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200" dirty="0">
                <a:solidFill>
                  <a:srgbClr val="C00000"/>
                </a:solidFill>
                <a:latin typeface="Bahnschrift SemiLight Condensed" panose="020B0502040204020203" pitchFamily="34" charset="0"/>
              </a:rPr>
              <a:t>Create a Python List with </a:t>
            </a:r>
            <a:r>
              <a:rPr lang="en-IN" sz="7200" dirty="0" err="1">
                <a:solidFill>
                  <a:srgbClr val="C00000"/>
                </a:solidFill>
                <a:latin typeface="Bahnschrift SemiLight Condensed" panose="020B0502040204020203" pitchFamily="34" charset="0"/>
              </a:rPr>
              <a:t>zeyobron,zeyo</a:t>
            </a:r>
            <a:r>
              <a:rPr lang="en-IN" sz="7200" dirty="0">
                <a:solidFill>
                  <a:srgbClr val="C00000"/>
                </a:solidFill>
                <a:latin typeface="Bahnschrift SemiLight Condensed" panose="020B0502040204020203" pitchFamily="34" charset="0"/>
              </a:rPr>
              <a:t> and analytics and filter elements contains </a:t>
            </a:r>
            <a:r>
              <a:rPr lang="en-IN" sz="7200" dirty="0" err="1">
                <a:solidFill>
                  <a:srgbClr val="C00000"/>
                </a:solidFill>
                <a:latin typeface="Bahnschrift SemiLight Condensed" panose="020B0502040204020203" pitchFamily="34" charset="0"/>
              </a:rPr>
              <a:t>zeyo</a:t>
            </a:r>
            <a:r>
              <a:rPr lang="en-IN" sz="7200" dirty="0">
                <a:solidFill>
                  <a:srgbClr val="C00000"/>
                </a:solidFill>
                <a:latin typeface="Bahnschrift SemiLight Condensed" panose="020B0502040204020203" pitchFamily="34" charset="0"/>
              </a:rPr>
              <a:t>--- DONE</a:t>
            </a:r>
            <a:endParaRPr lang="en-IN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61917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370E8A-5908-48D4-8570-943044DC112B}"/>
              </a:ext>
            </a:extLst>
          </p:cNvPr>
          <p:cNvSpPr txBox="1"/>
          <p:nvPr/>
        </p:nvSpPr>
        <p:spPr>
          <a:xfrm>
            <a:off x="1185604" y="1357313"/>
            <a:ext cx="982079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8000" dirty="0">
                <a:solidFill>
                  <a:srgbClr val="C00000"/>
                </a:solidFill>
                <a:latin typeface="Bahnschrift SemiLight Condensed" panose="020B0502040204020203" pitchFamily="34" charset="0"/>
              </a:rPr>
              <a:t>Read file1 as an </a:t>
            </a:r>
            <a:r>
              <a:rPr lang="en-IN" sz="8000" dirty="0" err="1">
                <a:solidFill>
                  <a:srgbClr val="C00000"/>
                </a:solidFill>
                <a:latin typeface="Bahnschrift SemiLight Condensed" panose="020B0502040204020203" pitchFamily="34" charset="0"/>
              </a:rPr>
              <a:t>rdd</a:t>
            </a:r>
            <a:r>
              <a:rPr lang="en-IN" sz="8000" dirty="0">
                <a:solidFill>
                  <a:srgbClr val="C00000"/>
                </a:solidFill>
                <a:latin typeface="Bahnschrift SemiLight Condensed" panose="020B0502040204020203" pitchFamily="34" charset="0"/>
              </a:rPr>
              <a:t> and filter gymnastics rows-- DONE</a:t>
            </a:r>
          </a:p>
        </p:txBody>
      </p:sp>
    </p:spTree>
    <p:extLst>
      <p:ext uri="{BB962C8B-B14F-4D97-AF65-F5344CB8AC3E}">
        <p14:creationId xmlns:p14="http://schemas.microsoft.com/office/powerpoint/2010/main" val="2680265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370E8A-5908-48D4-8570-943044DC112B}"/>
              </a:ext>
            </a:extLst>
          </p:cNvPr>
          <p:cNvSpPr txBox="1"/>
          <p:nvPr/>
        </p:nvSpPr>
        <p:spPr>
          <a:xfrm>
            <a:off x="1050137" y="305068"/>
            <a:ext cx="982079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dirty="0">
                <a:solidFill>
                  <a:srgbClr val="C00000"/>
                </a:solidFill>
                <a:latin typeface="Bahnschrift SemiLight Condensed" panose="020B0502040204020203" pitchFamily="34" charset="0"/>
              </a:rPr>
              <a:t>Create a Named Tuple and Impose Named Tuple  to it for schema </a:t>
            </a:r>
            <a:r>
              <a:rPr lang="en-IN" sz="4800" dirty="0" err="1">
                <a:solidFill>
                  <a:srgbClr val="C00000"/>
                </a:solidFill>
                <a:latin typeface="Bahnschrift SemiLight Condensed" panose="020B0502040204020203" pitchFamily="34" charset="0"/>
              </a:rPr>
              <a:t>rdd</a:t>
            </a:r>
            <a:endParaRPr lang="en-IN" sz="4800" dirty="0">
              <a:solidFill>
                <a:srgbClr val="C00000"/>
              </a:solidFill>
              <a:latin typeface="Bahnschrift SemiLight Condensed" panose="020B0502040204020203" pitchFamily="34" charset="0"/>
            </a:endParaRPr>
          </a:p>
          <a:p>
            <a:pPr algn="l"/>
            <a:r>
              <a:rPr lang="en-IN" sz="4800" dirty="0">
                <a:solidFill>
                  <a:srgbClr val="C00000"/>
                </a:solidFill>
                <a:latin typeface="Bahnschrift SemiLight Condensed" panose="020B0502040204020203" pitchFamily="34" charset="0"/>
              </a:rPr>
              <a:t>And filter product contains Gymnastics?</a:t>
            </a:r>
          </a:p>
          <a:p>
            <a:pPr algn="l"/>
            <a:r>
              <a:rPr lang="en-IN" sz="4800" dirty="0">
                <a:solidFill>
                  <a:srgbClr val="C00000"/>
                </a:solidFill>
                <a:latin typeface="Bahnschrift SemiLight Condensed" panose="020B0502040204020203" pitchFamily="34" charset="0"/>
              </a:rPr>
              <a:t> Columns  -DONE </a:t>
            </a:r>
            <a:r>
              <a:rPr lang="en-IN" sz="4800" dirty="0" err="1">
                <a:solidFill>
                  <a:srgbClr val="002060"/>
                </a:solidFill>
                <a:latin typeface="Bahnschrift SemiLight Condensed" panose="020B0502040204020203" pitchFamily="34" charset="0"/>
              </a:rPr>
              <a:t>txnno,txndate,custno,amount,category,product,city,state,spendby</a:t>
            </a:r>
            <a:endParaRPr lang="en-IN" sz="4800" dirty="0">
              <a:solidFill>
                <a:srgbClr val="002060"/>
              </a:solidFill>
              <a:latin typeface="Bahnschrift Semi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3644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370E8A-5908-48D4-8570-943044DC112B}"/>
              </a:ext>
            </a:extLst>
          </p:cNvPr>
          <p:cNvSpPr txBox="1"/>
          <p:nvPr/>
        </p:nvSpPr>
        <p:spPr>
          <a:xfrm>
            <a:off x="826202" y="2693705"/>
            <a:ext cx="982079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rgbClr val="FF0000"/>
                </a:solidFill>
                <a:latin typeface="Bahnschrift SemiLight Condensed" panose="020B0502040204020203" pitchFamily="34" charset="0"/>
              </a:rPr>
              <a:t>Covert that schema </a:t>
            </a:r>
            <a:r>
              <a:rPr lang="en-US" sz="4800" dirty="0" err="1">
                <a:solidFill>
                  <a:srgbClr val="FF0000"/>
                </a:solidFill>
                <a:latin typeface="Bahnschrift SemiLight Condensed" panose="020B0502040204020203" pitchFamily="34" charset="0"/>
              </a:rPr>
              <a:t>rdd</a:t>
            </a:r>
            <a:r>
              <a:rPr lang="en-US" sz="4800" dirty="0">
                <a:solidFill>
                  <a:srgbClr val="FF0000"/>
                </a:solidFill>
                <a:latin typeface="Bahnschrift SemiLight Condensed" panose="020B0502040204020203" pitchFamily="34" charset="0"/>
              </a:rPr>
              <a:t> filter to </a:t>
            </a:r>
            <a:r>
              <a:rPr lang="en-US" sz="4800" dirty="0" err="1">
                <a:solidFill>
                  <a:srgbClr val="FF0000"/>
                </a:solidFill>
                <a:latin typeface="Bahnschrift SemiLight Condensed" panose="020B0502040204020203" pitchFamily="34" charset="0"/>
              </a:rPr>
              <a:t>dataframe</a:t>
            </a:r>
            <a:r>
              <a:rPr lang="en-US" sz="4800" dirty="0">
                <a:solidFill>
                  <a:srgbClr val="FF0000"/>
                </a:solidFill>
                <a:latin typeface="Bahnschrift SemiLight Condensed" panose="020B0502040204020203" pitchFamily="34" charset="0"/>
              </a:rPr>
              <a:t>--- DONE</a:t>
            </a:r>
            <a:endParaRPr lang="en-IN" sz="4800" dirty="0">
              <a:solidFill>
                <a:srgbClr val="FF0000"/>
              </a:solidFill>
              <a:latin typeface="Bahnschrift Semi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6236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370E8A-5908-48D4-8570-943044DC112B}"/>
              </a:ext>
            </a:extLst>
          </p:cNvPr>
          <p:cNvSpPr txBox="1"/>
          <p:nvPr/>
        </p:nvSpPr>
        <p:spPr>
          <a:xfrm>
            <a:off x="1185604" y="1357313"/>
            <a:ext cx="982079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000" dirty="0">
                <a:solidFill>
                  <a:srgbClr val="C00000"/>
                </a:solidFill>
                <a:latin typeface="Bahnschrift SemiLight Condensed" panose="020B0502040204020203" pitchFamily="34" charset="0"/>
              </a:rPr>
              <a:t>Create </a:t>
            </a:r>
            <a:r>
              <a:rPr lang="en-IN" sz="8000" dirty="0" err="1">
                <a:solidFill>
                  <a:srgbClr val="C00000"/>
                </a:solidFill>
                <a:latin typeface="Bahnschrift SemiLight Condensed" panose="020B0502040204020203" pitchFamily="34" charset="0"/>
              </a:rPr>
              <a:t>dataframe</a:t>
            </a:r>
            <a:r>
              <a:rPr lang="en-IN" sz="8000" dirty="0">
                <a:solidFill>
                  <a:srgbClr val="C00000"/>
                </a:solidFill>
                <a:latin typeface="Bahnschrift SemiLight Condensed" panose="020B0502040204020203" pitchFamily="34" charset="0"/>
              </a:rPr>
              <a:t> using schema </a:t>
            </a:r>
            <a:r>
              <a:rPr lang="en-IN" sz="8000" dirty="0" err="1">
                <a:solidFill>
                  <a:srgbClr val="C00000"/>
                </a:solidFill>
                <a:latin typeface="Bahnschrift SemiLight Condensed" panose="020B0502040204020203" pitchFamily="34" charset="0"/>
              </a:rPr>
              <a:t>rdd</a:t>
            </a:r>
            <a:r>
              <a:rPr lang="en-IN" sz="8000" dirty="0">
                <a:solidFill>
                  <a:srgbClr val="C00000"/>
                </a:solidFill>
                <a:latin typeface="Bahnschrift SemiLight Condensed" panose="020B0502040204020203" pitchFamily="34" charset="0"/>
              </a:rPr>
              <a:t> and row </a:t>
            </a:r>
            <a:r>
              <a:rPr lang="en-IN" sz="8000" dirty="0" err="1">
                <a:solidFill>
                  <a:srgbClr val="C00000"/>
                </a:solidFill>
                <a:latin typeface="Bahnschrift SemiLight Condensed" panose="020B0502040204020203" pitchFamily="34" charset="0"/>
              </a:rPr>
              <a:t>rdd</a:t>
            </a:r>
            <a:endParaRPr lang="en-IN" sz="8000" dirty="0">
              <a:solidFill>
                <a:srgbClr val="C00000"/>
              </a:solidFill>
              <a:latin typeface="Bahnschrift SemiLight Condensed" panose="020B0502040204020203" pitchFamily="34" charset="0"/>
            </a:endParaRPr>
          </a:p>
          <a:p>
            <a:pPr algn="ctr"/>
            <a:endParaRPr lang="en-IN" sz="8000" dirty="0">
              <a:solidFill>
                <a:srgbClr val="00B050"/>
              </a:solidFill>
              <a:latin typeface="Bahnschrift Semi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68533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370E8A-5908-48D4-8570-943044DC112B}"/>
              </a:ext>
            </a:extLst>
          </p:cNvPr>
          <p:cNvSpPr txBox="1"/>
          <p:nvPr/>
        </p:nvSpPr>
        <p:spPr>
          <a:xfrm>
            <a:off x="1185604" y="1357313"/>
            <a:ext cx="982079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000" dirty="0">
                <a:solidFill>
                  <a:srgbClr val="C00000"/>
                </a:solidFill>
                <a:latin typeface="Bahnschrift SemiLight Condensed" panose="020B0502040204020203" pitchFamily="34" charset="0"/>
              </a:rPr>
              <a:t>Read file 3 as csv with header true--Done</a:t>
            </a:r>
            <a:endParaRPr lang="en-IN" sz="8000" dirty="0">
              <a:solidFill>
                <a:srgbClr val="00B050"/>
              </a:solidFill>
              <a:latin typeface="Bahnschrift Semi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44525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370E8A-5908-48D4-8570-943044DC112B}"/>
              </a:ext>
            </a:extLst>
          </p:cNvPr>
          <p:cNvSpPr txBox="1"/>
          <p:nvPr/>
        </p:nvSpPr>
        <p:spPr>
          <a:xfrm>
            <a:off x="1185604" y="1357313"/>
            <a:ext cx="982079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000" dirty="0">
                <a:solidFill>
                  <a:srgbClr val="C00000"/>
                </a:solidFill>
                <a:latin typeface="Bahnschrift SemiLight Condensed" panose="020B0502040204020203" pitchFamily="34" charset="0"/>
              </a:rPr>
              <a:t>Read file 4 as json and file 5 as parquet and show both the </a:t>
            </a:r>
            <a:r>
              <a:rPr lang="en-IN" sz="8000" dirty="0" err="1">
                <a:solidFill>
                  <a:srgbClr val="C00000"/>
                </a:solidFill>
                <a:latin typeface="Bahnschrift SemiLight Condensed" panose="020B0502040204020203" pitchFamily="34" charset="0"/>
              </a:rPr>
              <a:t>dataframe</a:t>
            </a:r>
            <a:r>
              <a:rPr lang="en-IN" sz="8000" dirty="0">
                <a:solidFill>
                  <a:srgbClr val="C00000"/>
                </a:solidFill>
                <a:latin typeface="Bahnschrift SemiLight Condensed" panose="020B0502040204020203" pitchFamily="34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9532611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370E8A-5908-48D4-8570-943044DC112B}"/>
              </a:ext>
            </a:extLst>
          </p:cNvPr>
          <p:cNvSpPr txBox="1"/>
          <p:nvPr/>
        </p:nvSpPr>
        <p:spPr>
          <a:xfrm>
            <a:off x="1185604" y="1357313"/>
            <a:ext cx="982079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000" dirty="0">
                <a:solidFill>
                  <a:srgbClr val="C00000"/>
                </a:solidFill>
                <a:latin typeface="Bahnschrift SemiLight Condensed" panose="020B0502040204020203" pitchFamily="34" charset="0"/>
              </a:rPr>
              <a:t>Read File6 as xml with row Tag as </a:t>
            </a:r>
            <a:r>
              <a:rPr lang="en-IN" sz="8000" dirty="0" err="1">
                <a:solidFill>
                  <a:srgbClr val="C00000"/>
                </a:solidFill>
                <a:latin typeface="Bahnschrift SemiLight Condensed" panose="020B0502040204020203" pitchFamily="34" charset="0"/>
              </a:rPr>
              <a:t>txdata</a:t>
            </a:r>
            <a:r>
              <a:rPr lang="en-IN" sz="8000" dirty="0">
                <a:solidFill>
                  <a:srgbClr val="C00000"/>
                </a:solidFill>
                <a:latin typeface="Bahnschrift SemiLight Condensed" panose="020B0502040204020203" pitchFamily="34" charset="0"/>
              </a:rPr>
              <a:t> and show the </a:t>
            </a:r>
            <a:r>
              <a:rPr lang="en-IN" sz="8000" dirty="0" err="1">
                <a:solidFill>
                  <a:srgbClr val="C00000"/>
                </a:solidFill>
                <a:latin typeface="Bahnschrift SemiLight Condensed" panose="020B0502040204020203" pitchFamily="34" charset="0"/>
              </a:rPr>
              <a:t>dataframe</a:t>
            </a:r>
            <a:endParaRPr lang="en-IN" sz="8000" dirty="0">
              <a:solidFill>
                <a:srgbClr val="C00000"/>
              </a:solidFill>
              <a:latin typeface="Bahnschrift Semi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15175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370E8A-5908-48D4-8570-943044DC112B}"/>
              </a:ext>
            </a:extLst>
          </p:cNvPr>
          <p:cNvSpPr txBox="1"/>
          <p:nvPr/>
        </p:nvSpPr>
        <p:spPr>
          <a:xfrm>
            <a:off x="1000074" y="920621"/>
            <a:ext cx="9820791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000" dirty="0">
                <a:solidFill>
                  <a:srgbClr val="C00000"/>
                </a:solidFill>
                <a:latin typeface="Bahnschrift SemiLight Condensed" panose="020B0502040204020203" pitchFamily="34" charset="0"/>
              </a:rPr>
              <a:t>Define a unified column list and impose using select for all the </a:t>
            </a:r>
            <a:r>
              <a:rPr lang="en-IN" sz="8000" dirty="0" err="1">
                <a:solidFill>
                  <a:srgbClr val="C00000"/>
                </a:solidFill>
                <a:latin typeface="Bahnschrift SemiLight Condensed" panose="020B0502040204020203" pitchFamily="34" charset="0"/>
              </a:rPr>
              <a:t>dataframe</a:t>
            </a:r>
            <a:r>
              <a:rPr lang="en-IN" sz="8000" dirty="0">
                <a:solidFill>
                  <a:srgbClr val="C00000"/>
                </a:solidFill>
                <a:latin typeface="Bahnschrift SemiLight Condensed" panose="020B0502040204020203" pitchFamily="34" charset="0"/>
              </a:rPr>
              <a:t> and Union all the </a:t>
            </a:r>
            <a:r>
              <a:rPr lang="en-IN" sz="8000" dirty="0" err="1">
                <a:solidFill>
                  <a:srgbClr val="C00000"/>
                </a:solidFill>
                <a:latin typeface="Bahnschrift SemiLight Condensed" panose="020B0502040204020203" pitchFamily="34" charset="0"/>
              </a:rPr>
              <a:t>dataframes</a:t>
            </a:r>
            <a:r>
              <a:rPr lang="en-IN" sz="8000" dirty="0">
                <a:solidFill>
                  <a:srgbClr val="C00000"/>
                </a:solidFill>
                <a:latin typeface="Bahnschrift SemiLight Condensed" panose="020B0502040204020203" pitchFamily="34" charset="0"/>
              </a:rPr>
              <a:t>-- DONE</a:t>
            </a:r>
          </a:p>
        </p:txBody>
      </p:sp>
    </p:spTree>
    <p:extLst>
      <p:ext uri="{BB962C8B-B14F-4D97-AF65-F5344CB8AC3E}">
        <p14:creationId xmlns:p14="http://schemas.microsoft.com/office/powerpoint/2010/main" val="16665206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370E8A-5908-48D4-8570-943044DC112B}"/>
              </a:ext>
            </a:extLst>
          </p:cNvPr>
          <p:cNvSpPr txBox="1"/>
          <p:nvPr/>
        </p:nvSpPr>
        <p:spPr>
          <a:xfrm>
            <a:off x="1007804" y="562069"/>
            <a:ext cx="9820791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dirty="0">
                <a:solidFill>
                  <a:srgbClr val="C00000"/>
                </a:solidFill>
                <a:latin typeface="Bahnschrift SemiLight Condensed" panose="020B0502040204020203" pitchFamily="34" charset="0"/>
              </a:rPr>
              <a:t>From Union df Get year from </a:t>
            </a:r>
            <a:r>
              <a:rPr lang="en-IN" sz="6600" dirty="0" err="1">
                <a:solidFill>
                  <a:srgbClr val="C00000"/>
                </a:solidFill>
                <a:latin typeface="Bahnschrift SemiLight Condensed" panose="020B0502040204020203" pitchFamily="34" charset="0"/>
              </a:rPr>
              <a:t>txn</a:t>
            </a:r>
            <a:r>
              <a:rPr lang="en-IN" sz="6600" dirty="0">
                <a:solidFill>
                  <a:srgbClr val="C00000"/>
                </a:solidFill>
                <a:latin typeface="Bahnschrift SemiLight Condensed" panose="020B0502040204020203" pitchFamily="34" charset="0"/>
              </a:rPr>
              <a:t> date and rename it with year  and </a:t>
            </a:r>
          </a:p>
          <a:p>
            <a:pPr algn="ctr"/>
            <a:r>
              <a:rPr lang="en-IN" sz="6600" dirty="0">
                <a:solidFill>
                  <a:srgbClr val="C00000"/>
                </a:solidFill>
                <a:latin typeface="Bahnschrift SemiLight Condensed" panose="020B0502040204020203" pitchFamily="34" charset="0"/>
              </a:rPr>
              <a:t>add one column at the end as status 1 for cash and 0 for credit in </a:t>
            </a:r>
            <a:r>
              <a:rPr lang="en-IN" sz="6600" dirty="0" err="1">
                <a:solidFill>
                  <a:srgbClr val="C00000"/>
                </a:solidFill>
                <a:latin typeface="Bahnschrift SemiLight Condensed" panose="020B0502040204020203" pitchFamily="34" charset="0"/>
              </a:rPr>
              <a:t>spendby</a:t>
            </a:r>
            <a:r>
              <a:rPr lang="en-IN" sz="6600" dirty="0">
                <a:solidFill>
                  <a:srgbClr val="C00000"/>
                </a:solidFill>
                <a:latin typeface="Bahnschrift SemiLight Condensed" panose="020B0502040204020203" pitchFamily="34" charset="0"/>
              </a:rPr>
              <a:t> </a:t>
            </a:r>
          </a:p>
          <a:p>
            <a:pPr algn="ctr"/>
            <a:r>
              <a:rPr lang="en-IN" sz="6600" dirty="0">
                <a:solidFill>
                  <a:srgbClr val="C00000"/>
                </a:solidFill>
                <a:latin typeface="Bahnschrift SemiLight Condensed" panose="020B0502040204020203" pitchFamily="34" charset="0"/>
              </a:rPr>
              <a:t>and filter </a:t>
            </a:r>
            <a:r>
              <a:rPr lang="en-IN" sz="6600" dirty="0" err="1">
                <a:solidFill>
                  <a:srgbClr val="C00000"/>
                </a:solidFill>
                <a:latin typeface="Bahnschrift SemiLight Condensed" panose="020B0502040204020203" pitchFamily="34" charset="0"/>
              </a:rPr>
              <a:t>txnno</a:t>
            </a:r>
            <a:r>
              <a:rPr lang="en-IN" sz="6600" dirty="0">
                <a:solidFill>
                  <a:srgbClr val="C00000"/>
                </a:solidFill>
                <a:latin typeface="Bahnschrift SemiLight Condensed" panose="020B0502040204020203" pitchFamily="34" charset="0"/>
              </a:rPr>
              <a:t>&gt;50000 -- DONE</a:t>
            </a:r>
          </a:p>
        </p:txBody>
      </p:sp>
    </p:spTree>
    <p:extLst>
      <p:ext uri="{BB962C8B-B14F-4D97-AF65-F5344CB8AC3E}">
        <p14:creationId xmlns:p14="http://schemas.microsoft.com/office/powerpoint/2010/main" val="19966298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370E8A-5908-48D4-8570-943044DC112B}"/>
              </a:ext>
            </a:extLst>
          </p:cNvPr>
          <p:cNvSpPr txBox="1"/>
          <p:nvPr/>
        </p:nvSpPr>
        <p:spPr>
          <a:xfrm>
            <a:off x="1331378" y="1317556"/>
            <a:ext cx="982079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000" dirty="0">
                <a:solidFill>
                  <a:srgbClr val="C00000"/>
                </a:solidFill>
                <a:latin typeface="Bahnschrift SemiLight Condensed" panose="020B0502040204020203" pitchFamily="34" charset="0"/>
              </a:rPr>
              <a:t>Find the </a:t>
            </a:r>
            <a:r>
              <a:rPr lang="en-IN" sz="8000" dirty="0" err="1">
                <a:solidFill>
                  <a:srgbClr val="C00000"/>
                </a:solidFill>
                <a:latin typeface="Bahnschrift SemiLight Condensed" panose="020B0502040204020203" pitchFamily="34" charset="0"/>
              </a:rPr>
              <a:t>Cummulative</a:t>
            </a:r>
            <a:r>
              <a:rPr lang="en-IN" sz="8000" dirty="0">
                <a:solidFill>
                  <a:srgbClr val="C00000"/>
                </a:solidFill>
                <a:latin typeface="Bahnschrift SemiLight Condensed" panose="020B0502040204020203" pitchFamily="34" charset="0"/>
              </a:rPr>
              <a:t> sum of  amount foreach category </a:t>
            </a:r>
          </a:p>
        </p:txBody>
      </p:sp>
    </p:spTree>
    <p:extLst>
      <p:ext uri="{BB962C8B-B14F-4D97-AF65-F5344CB8AC3E}">
        <p14:creationId xmlns:p14="http://schemas.microsoft.com/office/powerpoint/2010/main" val="1126125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2394</TotalTime>
  <Words>360</Words>
  <Application>Microsoft Office PowerPoint</Application>
  <PresentationFormat>Widescreen</PresentationFormat>
  <Paragraphs>29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Bahnschrift Light Condensed</vt:lpstr>
      <vt:lpstr>Bahnschrift SemiLight Condensed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pulikondasaiaditya@gmail.com</dc:creator>
  <cp:lastModifiedBy>sai aditya</cp:lastModifiedBy>
  <cp:revision>54</cp:revision>
  <dcterms:created xsi:type="dcterms:W3CDTF">2021-06-11T12:16:13Z</dcterms:created>
  <dcterms:modified xsi:type="dcterms:W3CDTF">2024-09-08T13:29:18Z</dcterms:modified>
</cp:coreProperties>
</file>